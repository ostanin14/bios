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462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576386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Анимации рекомендуется запускать по щелчку: заголовок → изображение → основные пункты. Переходы настроены отдельно для каждого слайда.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Анимации рекомендуется запускать по щелчку: заголовок → изображение → основные пункты. Переходы настроены отдельно для каждого слайда.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Анимации рекомендуется запускать по щелчку: заголовок → изображение → основные пункты. Переходы настроены отдельно для каждого слайда.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Анимации рекомендуется запускать по щелчку: заголовок → изображение → основные пункты. Переходы настроены отдельно для каждого слайда.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Анимации рекомендуется запускать по щелчку: заголовок → изображение → основные пункты. Переходы настроены отдельно для каждого слайда.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Анимации рекомендуется запускать по щелчку: заголовок → изображение → основные пункты. Переходы настроены отдельно для каждого слайда.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Анимации рекомендуется запускать по щелчку: заголовок → изображение → основные пункты. Переходы настроены отдельно для каждого слайда.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Анимации рекомендуется запускать по щелчку: заголовок → изображение → основные пункты. Переходы настроены отдельно для каждого слайда.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Анимации рекомендуется запускать по щелчку: заголовок → изображение → основные пункты. Переходы настроены отдельно для каждого слайда.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Анимации рекомендуется запускать по щелчку: заголовок → изображение → основные пункты. Переходы настроены отдельно для каждого слайда.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Анимации рекомендуется запускать по щелчку: заголовок → изображение → основные пункты. Переходы настроены отдельно для каждого слайда.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F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v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0"/>
            <a:ext cx="55595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594360"/>
            <a:ext cx="5669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C262B"/>
                </a:solidFill>
              </a:defRPr>
            </a:pPr>
            <a:r>
              <a:t>РУССКИЙ ЯЗЫК В СЕМЬЕ</a:t>
            </a:r>
            <a:br/>
            <a:r>
              <a:t>СЛАВЯНСКИХ ЯЗЫКОВ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148840"/>
            <a:ext cx="52120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646E70"/>
                </a:solidFill>
              </a:defRPr>
            </a:pPr>
            <a:r>
              <a:t>А теперь — неожиданный поворот:</a:t>
            </a:r>
            <a:br/>
            <a:r>
              <a:t>испанский язык и его история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3794760"/>
            <a:ext cx="1965960" cy="384048"/>
          </a:xfrm>
          <a:prstGeom prst="roundRect">
            <a:avLst/>
          </a:prstGeom>
          <a:solidFill>
            <a:srgbClr val="D2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3840480"/>
            <a:ext cx="1965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4F2EB"/>
                </a:solidFill>
              </a:defRPr>
            </a:pPr>
            <a:r>
              <a:t>ИСПАНСКИЙ ЯЗЫК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38912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C262B"/>
                </a:solidFill>
              </a:defRPr>
            </a:pPr>
            <a:r>
              <a:t>От народной латыни → к одному из главных языков мира</a:t>
            </a:r>
          </a:p>
        </p:txBody>
      </p:sp>
    </p:spTree>
  </p:cSld>
  <p:clrMapOvr>
    <a:masterClrMapping/>
  </p:clrMapOvr>
  <p:transition spd="med">
    <p:push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2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v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76656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78040" y="640080"/>
            <a:ext cx="4297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4F2EB"/>
                </a:solidFill>
              </a:defRPr>
            </a:pPr>
            <a:r>
              <a:t>Не славянский — но индоевропейский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5472" y="1828800"/>
            <a:ext cx="4069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3CDCD"/>
                </a:solidFill>
              </a:defRPr>
            </a:pPr>
            <a:r>
              <a:t>Где находится испанский в языковом дереве</a:t>
            </a:r>
          </a:p>
        </p:txBody>
      </p:sp>
      <p:sp>
        <p:nvSpPr>
          <p:cNvPr id="5" name="Rectangle 4"/>
          <p:cNvSpPr/>
          <p:nvPr/>
        </p:nvSpPr>
        <p:spPr>
          <a:xfrm>
            <a:off x="7223760" y="2743200"/>
            <a:ext cx="1280160" cy="64008"/>
          </a:xfrm>
          <a:prstGeom prst="rect">
            <a:avLst/>
          </a:prstGeom>
          <a:solidFill>
            <a:srgbClr val="F1B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223760" y="3154680"/>
            <a:ext cx="4069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4F2EB"/>
                </a:solidFill>
              </a:defRPr>
            </a:pPr>
            <a:r>
              <a:t>• Индоевропейская семья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3760" y="3776472"/>
            <a:ext cx="4069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4F2EB"/>
                </a:solidFill>
              </a:defRPr>
            </a:pPr>
            <a:r>
              <a:t>• Италийская ветвь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0" y="4398264"/>
            <a:ext cx="4069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4F2EB"/>
                </a:solidFill>
              </a:defRPr>
            </a:pPr>
            <a:r>
              <a:t>• Латинский язык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0" y="5020055"/>
            <a:ext cx="4069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4F2EB"/>
                </a:solidFill>
              </a:defRPr>
            </a:pPr>
            <a:r>
              <a:t>• Романские языки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0" y="5641847"/>
            <a:ext cx="4069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4F2EB"/>
                </a:solidFill>
              </a:defRPr>
            </a:pPr>
            <a:r>
              <a:t>• Испанский</a:t>
            </a:r>
          </a:p>
        </p:txBody>
      </p:sp>
    </p:spTree>
  </p:cSld>
  <p:clrMapOvr>
    <a:masterClrMapping/>
  </p:clrMapOvr>
  <p:transition spd="med">
    <p:wipe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F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6858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900" b="1">
                <a:solidFill>
                  <a:srgbClr val="1C262B"/>
                </a:solidFill>
              </a:defRPr>
            </a:pPr>
            <a:r>
              <a:t>Откуда всё началось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170432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46E70"/>
                </a:solidFill>
              </a:defRPr>
            </a:pPr>
            <a:r>
              <a:t>Рим, латынь и Пиренейский полуостров</a:t>
            </a:r>
          </a:p>
        </p:txBody>
      </p:sp>
      <p:pic>
        <p:nvPicPr>
          <p:cNvPr id="4" name="Picture 3" descr="v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320040"/>
            <a:ext cx="4434840" cy="28346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58368" y="1828800"/>
            <a:ext cx="1097280" cy="64008"/>
          </a:xfrm>
          <a:prstGeom prst="rect">
            <a:avLst/>
          </a:prstGeom>
          <a:solidFill>
            <a:srgbClr val="D2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2514600"/>
            <a:ext cx="5897880" cy="804672"/>
          </a:xfrm>
          <a:prstGeom prst="roundRect">
            <a:avLst/>
          </a:prstGeom>
          <a:solidFill>
            <a:srgbClr val="EEE8D8"/>
          </a:solidFill>
          <a:ln>
            <a:solidFill>
              <a:srgbClr val="DACD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" y="2670048"/>
            <a:ext cx="5440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C262B"/>
                </a:solidFill>
              </a:defRPr>
            </a:pPr>
            <a:r>
              <a:t>Римляне принесли латинский на Пиренейский полуостров.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3474720"/>
            <a:ext cx="5897880" cy="804672"/>
          </a:xfrm>
          <a:prstGeom prst="roundRect">
            <a:avLst/>
          </a:prstGeom>
          <a:solidFill>
            <a:srgbClr val="EEE8D8"/>
          </a:solidFill>
          <a:ln>
            <a:solidFill>
              <a:srgbClr val="DACD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3630168"/>
            <a:ext cx="5440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C262B"/>
                </a:solidFill>
              </a:defRPr>
            </a:pPr>
            <a:r>
              <a:t>Разговорная латынь постепенно разошлась на местные романские разновидности.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4434840"/>
            <a:ext cx="5897880" cy="804672"/>
          </a:xfrm>
          <a:prstGeom prst="roundRect">
            <a:avLst/>
          </a:prstGeom>
          <a:solidFill>
            <a:srgbClr val="EEE8D8"/>
          </a:solidFill>
          <a:ln>
            <a:solidFill>
              <a:srgbClr val="DACD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96112" y="4590288"/>
            <a:ext cx="5440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C262B"/>
                </a:solidFill>
              </a:defRPr>
            </a:pPr>
            <a:r>
              <a:t>Так возникла языковая основа будущего испанского.</a:t>
            </a:r>
          </a:p>
        </p:txBody>
      </p:sp>
    </p:spTree>
  </p:cSld>
  <p:clrMapOvr>
    <a:masterClrMapping/>
  </p:clrMapOvr>
  <p:transition spd="med">
    <p:split orient="vert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F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v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30352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394960" y="777240"/>
            <a:ext cx="58521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1C262B"/>
                </a:solidFill>
              </a:defRPr>
            </a:pPr>
            <a:r>
              <a:t>Кастильский</a:t>
            </a:r>
            <a:br/>
            <a:r>
              <a:t>стал основой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40680" y="196596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646E70"/>
                </a:solidFill>
              </a:defRPr>
            </a:pPr>
            <a:r>
              <a:t>Как одна разновидность стала основой стандарта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40680" y="2743200"/>
            <a:ext cx="1234440" cy="384048"/>
          </a:xfrm>
          <a:prstGeom prst="roundRect">
            <a:avLst/>
          </a:prstGeom>
          <a:solidFill>
            <a:srgbClr val="2477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40680" y="2788920"/>
            <a:ext cx="123444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4F2EB"/>
                </a:solidFill>
              </a:defRPr>
            </a:pPr>
            <a:r>
              <a:rPr dirty="0"/>
              <a:t>XIII </a:t>
            </a:r>
            <a:r>
              <a:rPr dirty="0" err="1"/>
              <a:t>век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6903720" y="2770632"/>
            <a:ext cx="4069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C262B"/>
                </a:solidFill>
              </a:defRPr>
            </a:pPr>
            <a:r>
              <a:t>Кастильский активно используется в письменности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40680" y="3749039"/>
            <a:ext cx="1234440" cy="384048"/>
          </a:xfrm>
          <a:prstGeom prst="roundRect">
            <a:avLst/>
          </a:prstGeom>
          <a:solidFill>
            <a:srgbClr val="2477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40680" y="3794759"/>
            <a:ext cx="1234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4F2EB"/>
                </a:solidFill>
              </a:defRPr>
            </a:pPr>
            <a:r>
              <a:t>Альфонсо 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03720" y="3776472"/>
            <a:ext cx="4069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C262B"/>
                </a:solidFill>
              </a:defRPr>
            </a:pPr>
            <a:r>
              <a:t>Развитие переводов и научной письменности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40680" y="4754880"/>
            <a:ext cx="1234440" cy="384048"/>
          </a:xfrm>
          <a:prstGeom prst="roundRect">
            <a:avLst/>
          </a:prstGeom>
          <a:solidFill>
            <a:srgbClr val="2477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40680" y="4800600"/>
            <a:ext cx="1234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4F2EB"/>
                </a:solidFill>
              </a:defRPr>
            </a:pPr>
            <a:r>
              <a:t>Позже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03720" y="4782312"/>
            <a:ext cx="4069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C262B"/>
                </a:solidFill>
              </a:defRPr>
            </a:pPr>
            <a:r>
              <a:t>Кастильский распространяется и получает статус стандарта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F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6858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900" b="1">
                <a:solidFill>
                  <a:srgbClr val="1C262B"/>
                </a:solidFill>
              </a:defRPr>
            </a:pPr>
            <a:r>
              <a:t>Арабское наследие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170432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46E70"/>
                </a:solidFill>
              </a:defRPr>
            </a:pPr>
            <a:r>
              <a:t>Контакт языков оставил заметный след в словаре</a:t>
            </a:r>
          </a:p>
        </p:txBody>
      </p:sp>
      <p:pic>
        <p:nvPicPr>
          <p:cNvPr id="4" name="Picture 3" descr="v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320040"/>
            <a:ext cx="4434840" cy="28346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58368" y="1828800"/>
            <a:ext cx="1097280" cy="64008"/>
          </a:xfrm>
          <a:prstGeom prst="rect">
            <a:avLst/>
          </a:prstGeom>
          <a:solidFill>
            <a:srgbClr val="D2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2514600"/>
            <a:ext cx="5897880" cy="804672"/>
          </a:xfrm>
          <a:prstGeom prst="roundRect">
            <a:avLst/>
          </a:prstGeom>
          <a:solidFill>
            <a:srgbClr val="EEE8D8"/>
          </a:solidFill>
          <a:ln>
            <a:solidFill>
              <a:srgbClr val="DACD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" y="2670048"/>
            <a:ext cx="5440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C262B"/>
                </a:solidFill>
              </a:defRPr>
            </a:pPr>
            <a:r>
              <a:t>После завоевания Пиренейского полуострова арабский стал языком высокой культуры и управления в значительной части региона.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3474720"/>
            <a:ext cx="5897880" cy="804672"/>
          </a:xfrm>
          <a:prstGeom prst="roundRect">
            <a:avLst/>
          </a:prstGeom>
          <a:solidFill>
            <a:srgbClr val="EEE8D8"/>
          </a:solidFill>
          <a:ln>
            <a:solidFill>
              <a:srgbClr val="DACD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3630168"/>
            <a:ext cx="5440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C262B"/>
                </a:solidFill>
              </a:defRPr>
            </a:pPr>
            <a:r>
              <a:t>В испанский вошли многочисленные слова арабского происхождения: azúcar, aceite, almohada и другие.</a:t>
            </a:r>
          </a:p>
        </p:txBody>
      </p:sp>
    </p:spTree>
  </p:cSld>
  <p:clrMapOvr>
    <a:masterClrMapping/>
  </p:clrMapOvr>
  <p:transition spd="med">
    <p:push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2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v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76656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78040" y="640080"/>
            <a:ext cx="4297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4F2EB"/>
                </a:solidFill>
              </a:defRPr>
            </a:pPr>
            <a:r>
              <a:t>1492: язык выходит за пределы Европы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5472" y="1828800"/>
            <a:ext cx="4069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3CDCD"/>
                </a:solidFill>
              </a:defRPr>
            </a:pPr>
            <a:r>
              <a:t>Начало масштабного распространения в Америке</a:t>
            </a:r>
          </a:p>
        </p:txBody>
      </p:sp>
      <p:sp>
        <p:nvSpPr>
          <p:cNvPr id="5" name="Rectangle 4"/>
          <p:cNvSpPr/>
          <p:nvPr/>
        </p:nvSpPr>
        <p:spPr>
          <a:xfrm>
            <a:off x="7223760" y="2743200"/>
            <a:ext cx="1280160" cy="64008"/>
          </a:xfrm>
          <a:prstGeom prst="rect">
            <a:avLst/>
          </a:prstGeom>
          <a:solidFill>
            <a:srgbClr val="F1B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223760" y="3154680"/>
            <a:ext cx="4069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4F2EB"/>
                </a:solidFill>
              </a:defRPr>
            </a:pPr>
            <a:r>
              <a:t>• XVI век — начало массового распространения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3760" y="3776472"/>
            <a:ext cx="4069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4F2EB"/>
                </a:solidFill>
              </a:defRPr>
            </a:pPr>
            <a:r>
              <a:t>• Америка становится главным пространством испанского языка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0" y="4398264"/>
            <a:ext cx="4069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4F2EB"/>
                </a:solidFill>
              </a:defRPr>
            </a:pPr>
            <a:r>
              <a:t>• Местные языки влияют на лексику и произношение</a:t>
            </a:r>
          </a:p>
        </p:txBody>
      </p:sp>
    </p:spTree>
  </p:cSld>
  <p:clrMapOvr>
    <a:masterClrMapping/>
  </p:clrMapOvr>
  <p:transition spd="med">
    <p:wipe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F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900" b="1">
                <a:solidFill>
                  <a:srgbClr val="1C262B"/>
                </a:solidFill>
              </a:defRPr>
            </a:pPr>
            <a:r>
              <a:t>Испания и Латинская Америка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14300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46E70"/>
                </a:solidFill>
              </a:defRPr>
            </a:pPr>
            <a:r>
              <a:t>Ключевые различия в употреблении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74519"/>
            <a:ext cx="10789920" cy="960120"/>
          </a:xfrm>
          <a:prstGeom prst="roundRect">
            <a:avLst/>
          </a:prstGeom>
          <a:solidFill>
            <a:srgbClr val="F2ECDC"/>
          </a:solidFill>
          <a:ln>
            <a:solidFill>
              <a:srgbClr val="2477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96112" y="2029967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D25341"/>
                </a:solidFill>
              </a:defRPr>
            </a:pPr>
            <a:r>
              <a:t>vosotros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88920" y="2029967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47774"/>
                </a:solidFill>
              </a:defRPr>
            </a:pPr>
            <a:r>
              <a:t>Испания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029967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C262B"/>
                </a:solidFill>
              </a:defRPr>
            </a:pPr>
            <a:r>
              <a:t>форма множественного «вы»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200400"/>
            <a:ext cx="10789920" cy="960120"/>
          </a:xfrm>
          <a:prstGeom prst="roundRect">
            <a:avLst/>
          </a:prstGeom>
          <a:solidFill>
            <a:srgbClr val="F2ECDC"/>
          </a:solidFill>
          <a:ln>
            <a:solidFill>
              <a:srgbClr val="2477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3355848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D25341"/>
                </a:solidFill>
              </a:defRPr>
            </a:pPr>
            <a:r>
              <a:t>ustedes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88920" y="335584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47774"/>
                </a:solidFill>
              </a:defRPr>
            </a:pPr>
            <a:r>
              <a:t>Многие страны Америки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3355848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C262B"/>
                </a:solidFill>
              </a:defRPr>
            </a:pPr>
            <a:r>
              <a:t>универсальная форма «вы»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4526279"/>
            <a:ext cx="10789920" cy="960120"/>
          </a:xfrm>
          <a:prstGeom prst="roundRect">
            <a:avLst/>
          </a:prstGeom>
          <a:solidFill>
            <a:srgbClr val="F2ECDC"/>
          </a:solidFill>
          <a:ln>
            <a:solidFill>
              <a:srgbClr val="2477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96112" y="4681727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D25341"/>
                </a:solidFill>
              </a:defRPr>
            </a:pPr>
            <a:r>
              <a:t>vos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88920" y="4681727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47774"/>
                </a:solidFill>
              </a:defRPr>
            </a:pPr>
            <a:r>
              <a:t>Аргентина и Уругвай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4681727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C262B"/>
                </a:solidFill>
              </a:defRPr>
            </a:pPr>
            <a:r>
              <a:t>вариант местоимения «ты»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F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6858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900" b="1">
                <a:solidFill>
                  <a:srgbClr val="1C262B"/>
                </a:solidFill>
              </a:defRPr>
            </a:pPr>
            <a:r>
              <a:t>Слова путешествуют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170432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46E70"/>
                </a:solidFill>
              </a:defRPr>
            </a:pPr>
            <a:r>
              <a:t>Примеры общей лексики и региональных вариантов</a:t>
            </a:r>
          </a:p>
        </p:txBody>
      </p:sp>
      <p:pic>
        <p:nvPicPr>
          <p:cNvPr id="4" name="Picture 3" descr="v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320040"/>
            <a:ext cx="4434840" cy="28346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58368" y="1828800"/>
            <a:ext cx="1097280" cy="64008"/>
          </a:xfrm>
          <a:prstGeom prst="rect">
            <a:avLst/>
          </a:prstGeom>
          <a:solidFill>
            <a:srgbClr val="D2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2514600"/>
            <a:ext cx="5897880" cy="804672"/>
          </a:xfrm>
          <a:prstGeom prst="roundRect">
            <a:avLst/>
          </a:prstGeom>
          <a:solidFill>
            <a:srgbClr val="EEE8D8"/>
          </a:solidFill>
          <a:ln>
            <a:solidFill>
              <a:srgbClr val="DACD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" y="2670048"/>
            <a:ext cx="5440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C262B"/>
                </a:solidFill>
              </a:defRPr>
            </a:pPr>
            <a:r>
              <a:t>Общие латинские корни связывают испанский с португальским, итальянским, французским и румынским.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3474720"/>
            <a:ext cx="5897880" cy="804672"/>
          </a:xfrm>
          <a:prstGeom prst="roundRect">
            <a:avLst/>
          </a:prstGeom>
          <a:solidFill>
            <a:srgbClr val="EEE8D8"/>
          </a:solidFill>
          <a:ln>
            <a:solidFill>
              <a:srgbClr val="DACD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3630168"/>
            <a:ext cx="5440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C262B"/>
                </a:solidFill>
              </a:defRPr>
            </a:pPr>
            <a:r>
              <a:t>При этом одинаковые корни могут звучать очень по-разному.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4434840"/>
            <a:ext cx="5897880" cy="804672"/>
          </a:xfrm>
          <a:prstGeom prst="roundRect">
            <a:avLst/>
          </a:prstGeom>
          <a:solidFill>
            <a:srgbClr val="EEE8D8"/>
          </a:solidFill>
          <a:ln>
            <a:solidFill>
              <a:srgbClr val="DACD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96112" y="4590288"/>
            <a:ext cx="5440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C262B"/>
                </a:solidFill>
              </a:defRPr>
            </a:pPr>
            <a:r>
              <a:t>Языковое родство особенно хорошо видно в базовой лексике.</a:t>
            </a:r>
          </a:p>
        </p:txBody>
      </p:sp>
    </p:spTree>
  </p:cSld>
  <p:clrMapOvr>
    <a:masterClrMapping/>
  </p:clrMapOvr>
  <p:transition spd="med">
    <p:push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2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v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76656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78040" y="640080"/>
            <a:ext cx="4297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4F2EB"/>
                </a:solidFill>
              </a:defRPr>
            </a:pPr>
            <a:r>
              <a:t>Почему испанский стал глобальным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5472" y="1828800"/>
            <a:ext cx="4069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3CDCD"/>
                </a:solidFill>
              </a:defRPr>
            </a:pPr>
            <a:r>
              <a:t>Культура, образование, медиа и международное общение</a:t>
            </a:r>
          </a:p>
        </p:txBody>
      </p:sp>
      <p:sp>
        <p:nvSpPr>
          <p:cNvPr id="5" name="Rectangle 4"/>
          <p:cNvSpPr/>
          <p:nvPr/>
        </p:nvSpPr>
        <p:spPr>
          <a:xfrm>
            <a:off x="7223760" y="2743200"/>
            <a:ext cx="1280160" cy="64008"/>
          </a:xfrm>
          <a:prstGeom prst="rect">
            <a:avLst/>
          </a:prstGeom>
          <a:solidFill>
            <a:srgbClr val="F1B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223760" y="3154680"/>
            <a:ext cx="4069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4F2EB"/>
                </a:solidFill>
              </a:defRPr>
            </a:pPr>
            <a:r>
              <a:t>• Испанский — романский язык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3760" y="3776472"/>
            <a:ext cx="4069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4F2EB"/>
                </a:solidFill>
              </a:defRPr>
            </a:pPr>
            <a:r>
              <a:t>• Его основа — разговорная латынь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0" y="4398264"/>
            <a:ext cx="4069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4F2EB"/>
                </a:solidFill>
              </a:defRPr>
            </a:pPr>
            <a:r>
              <a:t>• Кастильский стал основой стандарта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0" y="5020055"/>
            <a:ext cx="4069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4F2EB"/>
                </a:solidFill>
              </a:defRPr>
            </a:pPr>
            <a:r>
              <a:t>• Региональные варианты сохраняют общую систему</a:t>
            </a:r>
          </a:p>
        </p:txBody>
      </p:sp>
    </p:spTree>
  </p:cSld>
  <p:clrMapOvr>
    <a:masterClrMapping/>
  </p:clrMapOvr>
  <p:transition spd="med">
    <p:wipe dir="r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F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5943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C262B"/>
                </a:solidFill>
              </a:defRPr>
            </a:pPr>
            <a:r>
              <a:t>Главные выводы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04088" y="128016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646E70"/>
                </a:solidFill>
              </a:defRPr>
            </a:pPr>
            <a:r>
              <a:t>Четыре идеи, которые стоит запомнить</a:t>
            </a:r>
          </a:p>
        </p:txBody>
      </p:sp>
      <p:sp>
        <p:nvSpPr>
          <p:cNvPr id="4" name="Oval 3"/>
          <p:cNvSpPr/>
          <p:nvPr/>
        </p:nvSpPr>
        <p:spPr>
          <a:xfrm>
            <a:off x="731520" y="2057400"/>
            <a:ext cx="502920" cy="502920"/>
          </a:xfrm>
          <a:prstGeom prst="ellipse">
            <a:avLst/>
          </a:prstGeom>
          <a:solidFill>
            <a:srgbClr val="D2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214884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4F2EB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2075688"/>
            <a:ext cx="8961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C262B"/>
                </a:solidFill>
              </a:defRPr>
            </a:pPr>
            <a:r>
              <a:t>Испанский — романский язык, возникший на основе разговорной латыни.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2971800"/>
            <a:ext cx="502920" cy="502920"/>
          </a:xfrm>
          <a:prstGeom prst="ellipse">
            <a:avLst/>
          </a:prstGeom>
          <a:solidFill>
            <a:srgbClr val="2477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306324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4F2EB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990088"/>
            <a:ext cx="8961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C262B"/>
                </a:solidFill>
              </a:defRPr>
            </a:pPr>
            <a:r>
              <a:t>Кастильский стал основой современного стандарта.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3886200"/>
            <a:ext cx="502920" cy="502920"/>
          </a:xfrm>
          <a:prstGeom prst="ellipse">
            <a:avLst/>
          </a:prstGeom>
          <a:solidFill>
            <a:srgbClr val="F1B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3977639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4F2EB"/>
                </a:solidFill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3904487"/>
            <a:ext cx="8961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C262B"/>
                </a:solidFill>
              </a:defRPr>
            </a:pPr>
            <a:r>
              <a:t>История контактов объясняет богатство словаря.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4800600"/>
            <a:ext cx="502920" cy="502920"/>
          </a:xfrm>
          <a:prstGeom prst="ellipse">
            <a:avLst/>
          </a:prstGeom>
          <a:solidFill>
            <a:srgbClr val="5A6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489204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4F2EB"/>
                </a:solidFill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4818888"/>
            <a:ext cx="8961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C262B"/>
                </a:solidFill>
              </a:defRPr>
            </a:pPr>
            <a:r>
              <a:t>Сегодня испанский объединяет множество региональных вариантов.</a:t>
            </a:r>
          </a:p>
        </p:txBody>
      </p:sp>
      <p:pic>
        <p:nvPicPr>
          <p:cNvPr id="16" name="Picture 15" descr="v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6840" y="1645920"/>
            <a:ext cx="2743200" cy="356616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F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5943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C262B"/>
                </a:solidFill>
              </a:defRPr>
            </a:pPr>
            <a:r>
              <a:t>Источники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28016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646E70"/>
                </a:solidFill>
              </a:defRPr>
            </a:pPr>
            <a:r>
              <a:t>Литература и справочные материалы</a:t>
            </a:r>
          </a:p>
        </p:txBody>
      </p:sp>
      <p:pic>
        <p:nvPicPr>
          <p:cNvPr id="4" name="Picture 3" descr="v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1828800"/>
            <a:ext cx="4343400" cy="3337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2057400"/>
            <a:ext cx="5669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C262B"/>
                </a:solidFill>
              </a:defRPr>
            </a:pPr>
            <a:r>
              <a:t>• Ministerio de Cultura de España — diversidad lingüística и история языков Испании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971800"/>
            <a:ext cx="5669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C262B"/>
                </a:solidFill>
              </a:defRPr>
            </a:pPr>
            <a:r>
              <a:t>• Cambridge University Press — A History of the Spanish Language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886200"/>
            <a:ext cx="5669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C262B"/>
                </a:solidFill>
              </a:defRPr>
            </a:pPr>
            <a:r>
              <a:t>• University of Texas at Austin — материалы по испанскому и языковым контактам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800600"/>
            <a:ext cx="5669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C262B"/>
                </a:solidFill>
              </a:defRPr>
            </a:pPr>
            <a:r>
              <a:t>• Oxford Academic — исследования диалектного разнообразия испанского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613</Words>
  <Application>Microsoft Office PowerPoint</Application>
  <PresentationFormat>Широкоэкранный</PresentationFormat>
  <Paragraphs>82</Paragraphs>
  <Slides>11</Slides>
  <Notes>11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Артем Останин</dc:creator>
  <cp:keywords/>
  <dc:description>generated using python-pptx</dc:description>
  <cp:lastModifiedBy>Артем Останин</cp:lastModifiedBy>
  <cp:revision>2</cp:revision>
  <dcterms:created xsi:type="dcterms:W3CDTF">2013-01-27T09:14:16Z</dcterms:created>
  <dcterms:modified xsi:type="dcterms:W3CDTF">2026-09-04T13:09:50Z</dcterms:modified>
  <cp:category/>
</cp:coreProperties>
</file>